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1188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5880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1085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4157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0048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r>
              <a:rPr lang="en-US" b="1"/>
              <a:t/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542624169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 smtClean="0"/>
                        <a:t>Vijjeswarapu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Manaswitha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smtClean="0"/>
                        <a:t>manaswitha138@gmail.com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smtClean="0"/>
                        <a:t>9490785081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</a:t>
            </a:r>
            <a:r>
              <a:rPr lang="en-US" sz="2000" b="1" dirty="0"/>
              <a:t>– </a:t>
            </a:r>
            <a:r>
              <a:rPr lang="en-IN" sz="2000" dirty="0"/>
              <a:t>Travel &amp; Tourism</a:t>
            </a:r>
            <a:endParaRPr lang="en-IN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723CA3-EC2D-165A-F109-3759C4E9C8A4}"/>
              </a:ext>
            </a:extLst>
          </p:cNvPr>
          <p:cNvSpPr txBox="1"/>
          <p:nvPr/>
        </p:nvSpPr>
        <p:spPr>
          <a:xfrm>
            <a:off x="1252449" y="621401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</a:t>
            </a:r>
            <a:r>
              <a:rPr lang="en-US" sz="2000" b="1" dirty="0" smtClean="0"/>
              <a:t>– </a:t>
            </a:r>
            <a:r>
              <a:rPr lang="en-IN" sz="2000" dirty="0" smtClean="0"/>
              <a:t>Travel </a:t>
            </a:r>
            <a:r>
              <a:rPr lang="en-IN" sz="2000" dirty="0"/>
              <a:t>Planner </a:t>
            </a:r>
            <a:r>
              <a:rPr lang="en-IN" sz="2000" dirty="0" smtClean="0"/>
              <a:t>Agent</a:t>
            </a:r>
            <a:endParaRPr lang="en-IN" sz="2000" b="1" dirty="0">
              <a:highlight>
                <a:srgbClr val="FFFF00"/>
              </a:highligh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98" y="3565121"/>
            <a:ext cx="1022556" cy="105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F6745E-14BA-0766-CE1E-32E29663832D}"/>
              </a:ext>
            </a:extLst>
          </p:cNvPr>
          <p:cNvSpPr txBox="1"/>
          <p:nvPr/>
        </p:nvSpPr>
        <p:spPr>
          <a:xfrm>
            <a:off x="542544" y="1165753"/>
            <a:ext cx="1060704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Problem </a:t>
            </a:r>
            <a:r>
              <a:rPr lang="en-US" sz="1600" b="1" dirty="0" smtClean="0"/>
              <a:t>Statement </a:t>
            </a:r>
            <a:r>
              <a:rPr lang="en-US" b="1" dirty="0" smtClean="0"/>
              <a:t>: </a:t>
            </a:r>
            <a:r>
              <a:rPr lang="en-US" b="1" dirty="0"/>
              <a:t>Travel Planner </a:t>
            </a:r>
            <a:r>
              <a:rPr lang="en-US" b="1" dirty="0" smtClean="0"/>
              <a:t>Agent</a:t>
            </a:r>
          </a:p>
          <a:p>
            <a:pPr algn="just"/>
            <a:endParaRPr lang="en-US" b="1" dirty="0"/>
          </a:p>
          <a:p>
            <a:pPr algn="just"/>
            <a:r>
              <a:rPr lang="en-US" sz="1600" b="1" dirty="0"/>
              <a:t>The </a:t>
            </a:r>
            <a:r>
              <a:rPr lang="en-US" sz="1600" b="1" dirty="0" smtClean="0"/>
              <a:t>Challenge:</a:t>
            </a:r>
            <a:endParaRPr lang="en-US" b="1" dirty="0"/>
          </a:p>
          <a:p>
            <a:pPr algn="just"/>
            <a:r>
              <a:rPr lang="en-US" dirty="0"/>
              <a:t>Planning a trip can be complex because travelers need to consider </a:t>
            </a:r>
            <a:r>
              <a:rPr lang="en-US" b="1" dirty="0"/>
              <a:t>destinations, itineraries, transportation, accommodation, budget, weather, local attractions, food, and cultural preferences</a:t>
            </a:r>
            <a:r>
              <a:rPr lang="en-US" dirty="0"/>
              <a:t>. Travel information is often scattered across multiple sources, making it difficult to create a personalized and efficient travel plan. Without </a:t>
            </a:r>
            <a:r>
              <a:rPr lang="en-US" b="1" dirty="0"/>
              <a:t>intelligent and context-aware guidance</a:t>
            </a:r>
            <a:r>
              <a:rPr lang="en-US" dirty="0"/>
              <a:t>, users may spend significant time researching and organizing their trips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sz="1600" b="1" dirty="0"/>
              <a:t>The </a:t>
            </a:r>
            <a:r>
              <a:rPr lang="en-US" sz="1600" b="1" dirty="0" smtClean="0"/>
              <a:t>Objective:</a:t>
            </a:r>
            <a:endParaRPr lang="en-US" sz="1600" b="1" dirty="0"/>
          </a:p>
          <a:p>
            <a:pPr algn="just"/>
            <a:r>
              <a:rPr lang="en-US" dirty="0"/>
              <a:t>Build an </a:t>
            </a:r>
            <a:r>
              <a:rPr lang="en-US" b="1" dirty="0"/>
              <a:t>AI-powered Travel Planner Agent</a:t>
            </a:r>
            <a:r>
              <a:rPr lang="en-US" dirty="0"/>
              <a:t> that provides </a:t>
            </a:r>
            <a:r>
              <a:rPr lang="en-US" b="1" dirty="0"/>
              <a:t>personalized travel planning and guidance</a:t>
            </a:r>
            <a:r>
              <a:rPr lang="en-US" dirty="0"/>
              <a:t> for users traveling across India. The solution should</a:t>
            </a:r>
            <a:r>
              <a:rPr lang="en-US" dirty="0" smtClean="0"/>
              <a:t>:</a:t>
            </a:r>
            <a:endParaRPr lang="en-US" dirty="0"/>
          </a:p>
          <a:p>
            <a:pPr algn="just"/>
            <a:r>
              <a:rPr lang="en-US" b="1" dirty="0"/>
              <a:t>Personalized Itinerary Planning</a:t>
            </a:r>
            <a:r>
              <a:rPr lang="en-US" dirty="0"/>
              <a:t> – Generate day-wise travel plans based on destination, trip duration, budget, interests, and user preferences. </a:t>
            </a:r>
          </a:p>
          <a:p>
            <a:pPr algn="just"/>
            <a:r>
              <a:rPr lang="en-US" b="1" dirty="0"/>
              <a:t>Destination Recommendations</a:t>
            </a:r>
            <a:r>
              <a:rPr lang="en-US" dirty="0"/>
              <a:t> – Suggest suitable Indian destinations and attractions according to the user's requirements. </a:t>
            </a:r>
          </a:p>
          <a:p>
            <a:pPr algn="just"/>
            <a:r>
              <a:rPr lang="en-US" b="1" dirty="0"/>
              <a:t>Transport &amp; Travel Guidance</a:t>
            </a:r>
            <a:r>
              <a:rPr lang="en-US" dirty="0"/>
              <a:t> – Recommend practical transportation options and help organize the sequence of places to visit. </a:t>
            </a:r>
          </a:p>
          <a:p>
            <a:pPr algn="just"/>
            <a:r>
              <a:rPr lang="en-US" b="1" dirty="0"/>
              <a:t>Budget Planning</a:t>
            </a:r>
            <a:r>
              <a:rPr lang="en-US" dirty="0"/>
              <a:t> – Provide approximate travel budgets covering transportation, accommodation, food, and activities. </a:t>
            </a:r>
          </a:p>
          <a:p>
            <a:pPr algn="just"/>
            <a:r>
              <a:rPr lang="en-US" b="1" dirty="0"/>
              <a:t>Food &amp; Cultural Recommendations</a:t>
            </a:r>
            <a:r>
              <a:rPr lang="en-US" dirty="0"/>
              <a:t> – Suggest local cuisines, cultural experiences, and important travel tips. </a:t>
            </a:r>
          </a:p>
          <a:p>
            <a:pPr algn="just"/>
            <a:r>
              <a:rPr lang="en-US" b="1" dirty="0"/>
              <a:t>Conversational Travel Assistance</a:t>
            </a:r>
            <a:r>
              <a:rPr lang="en-US" dirty="0"/>
              <a:t> – Allow users to ask follow-up questions and receive context-aware responses using conversation history. </a:t>
            </a:r>
          </a:p>
          <a:p>
            <a:pPr algn="just"/>
            <a:r>
              <a:rPr lang="en-US" b="1" dirty="0"/>
              <a:t>AI-Powered Travel Agent</a:t>
            </a:r>
            <a:r>
              <a:rPr lang="en-US" dirty="0"/>
              <a:t> – Use </a:t>
            </a:r>
            <a:r>
              <a:rPr lang="en-US" b="1" dirty="0"/>
              <a:t>IBM Granite AI</a:t>
            </a:r>
            <a:r>
              <a:rPr lang="en-US" dirty="0"/>
              <a:t> to understand natural-language requests and generate personalized travel recommendations.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847FA31-EA47-D27A-9D69-AF50A3080AEC}"/>
              </a:ext>
            </a:extLst>
          </p:cNvPr>
          <p:cNvSpPr txBox="1"/>
          <p:nvPr/>
        </p:nvSpPr>
        <p:spPr>
          <a:xfrm>
            <a:off x="542544" y="556604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A1BF701-ABCA-4DF0-8330-B6AF71EF8E39}"/>
              </a:ext>
            </a:extLst>
          </p:cNvPr>
          <p:cNvSpPr txBox="1"/>
          <p:nvPr/>
        </p:nvSpPr>
        <p:spPr>
          <a:xfrm>
            <a:off x="320433" y="733246"/>
            <a:ext cx="1060704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Proposed Solution – </a:t>
            </a:r>
            <a:r>
              <a:rPr lang="en-US" sz="1600" b="1" dirty="0" err="1"/>
              <a:t>Yatra</a:t>
            </a:r>
            <a:r>
              <a:rPr lang="en-US" sz="1600" b="1" dirty="0"/>
              <a:t>: India Travel Agent</a:t>
            </a:r>
          </a:p>
          <a:p>
            <a:r>
              <a:rPr lang="en-US" b="1" dirty="0" err="1"/>
              <a:t>Yatra</a:t>
            </a:r>
            <a:r>
              <a:rPr lang="en-US" dirty="0"/>
              <a:t> is an AI-powered Travel Planner Agent that simplifies trip planning by providing personalized travel recommendations, day-wise itineraries, transportation guidance, budget suggestions, food recommendations, and cultural information through a conversational interface.</a:t>
            </a:r>
          </a:p>
          <a:p>
            <a:r>
              <a:rPr lang="en-US" dirty="0"/>
              <a:t>The solution uses </a:t>
            </a:r>
            <a:r>
              <a:rPr lang="en-US" b="1" dirty="0"/>
              <a:t>IBM Granite AI</a:t>
            </a:r>
            <a:r>
              <a:rPr lang="en-US" dirty="0"/>
              <a:t> to understand user requirements such as destination, trip duration, budget, interests, and preferences, and then generates a customized travel plan. The system maintains conversation context so users can refine their plans through follow-up questions.</a:t>
            </a:r>
          </a:p>
          <a:p>
            <a:r>
              <a:rPr lang="en-US" sz="1600" b="1" dirty="0"/>
              <a:t>Key </a:t>
            </a:r>
            <a:r>
              <a:rPr lang="en-US" sz="1600" b="1" dirty="0" smtClean="0"/>
              <a:t>Components:</a:t>
            </a:r>
            <a:endParaRPr lang="en-US" sz="1600" b="1" dirty="0"/>
          </a:p>
          <a:p>
            <a:r>
              <a:rPr lang="en-US" b="1" dirty="0"/>
              <a:t>AI Travel Planning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Generates personalized day-wise itineraries. </a:t>
            </a:r>
          </a:p>
          <a:p>
            <a:pPr lvl="1"/>
            <a:r>
              <a:rPr lang="en-US" dirty="0"/>
              <a:t>Considers duration, interests, budget, and destination. </a:t>
            </a:r>
          </a:p>
          <a:p>
            <a:r>
              <a:rPr lang="en-US" b="1" dirty="0"/>
              <a:t>Destination Recommendation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Suggests suitable Indian destinations based on user preferences. </a:t>
            </a:r>
          </a:p>
          <a:p>
            <a:pPr lvl="1"/>
            <a:r>
              <a:rPr lang="en-US" dirty="0"/>
              <a:t>Provides attractions and activities to consider. </a:t>
            </a:r>
          </a:p>
          <a:p>
            <a:r>
              <a:rPr lang="en-US" b="1" dirty="0"/>
              <a:t>Budget Planning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Gives approximate spending guidance for accommodation, food, transport, and activities. </a:t>
            </a:r>
          </a:p>
          <a:p>
            <a:pPr lvl="1"/>
            <a:r>
              <a:rPr lang="en-US" dirty="0"/>
              <a:t>Helps users plan within their stated budget. </a:t>
            </a:r>
          </a:p>
          <a:p>
            <a:r>
              <a:rPr lang="en-US" b="1" dirty="0"/>
              <a:t>Transport &amp; Activity Guidance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Suggests suitable transportation options. </a:t>
            </a:r>
          </a:p>
          <a:p>
            <a:pPr lvl="1"/>
            <a:r>
              <a:rPr lang="en-US" dirty="0"/>
              <a:t>Recommends activities and places based on the itinerary. </a:t>
            </a:r>
          </a:p>
          <a:p>
            <a:r>
              <a:rPr lang="en-US" b="1" dirty="0"/>
              <a:t>Food &amp; Cultural Recommendations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Recommends regional cuisines and local experiences. </a:t>
            </a:r>
          </a:p>
          <a:p>
            <a:pPr lvl="1"/>
            <a:r>
              <a:rPr lang="en-US" dirty="0"/>
              <a:t>Provides basic cultural and travel tips. </a:t>
            </a:r>
          </a:p>
          <a:p>
            <a:r>
              <a:rPr lang="en-US" b="1" dirty="0"/>
              <a:t>Conversational Travel Assistant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Allows users to ask follow-up questions naturally. </a:t>
            </a:r>
          </a:p>
          <a:p>
            <a:pPr lvl="1"/>
            <a:r>
              <a:rPr lang="en-US" dirty="0"/>
              <a:t>Maintains recent conversation context for a continuous planning experience.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20433" y="147484"/>
            <a:ext cx="6007509" cy="409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PROPOSED SOLUTION -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• </a:t>
            </a:r>
            <a:r>
              <a:rPr lang="en-US" sz="2000" b="1" dirty="0"/>
              <a:t>IBM Granite Model</a:t>
            </a:r>
            <a:r>
              <a:rPr lang="en-US" sz="2000" dirty="0"/>
              <a:t> – For natural language understanding, reasoning, personalized travel planning, itinerary generation, and travel recommendations</a:t>
            </a:r>
            <a:r>
              <a:rPr lang="en-US" sz="2000" dirty="0" smtClean="0"/>
              <a:t>.</a:t>
            </a:r>
            <a:endParaRPr lang="en-US" sz="2000" dirty="0"/>
          </a:p>
          <a:p>
            <a:pPr lvl="1"/>
            <a:r>
              <a:rPr lang="en-US" sz="2000" dirty="0"/>
              <a:t>• </a:t>
            </a:r>
            <a:r>
              <a:rPr lang="en-US" sz="2000" b="1" dirty="0"/>
              <a:t>IBM Cloud</a:t>
            </a:r>
            <a:r>
              <a:rPr lang="en-US" sz="2000" dirty="0"/>
              <a:t> – Provides the infrastructure and cloud environment to build, deploy, and run the Travel Planner Agent efficiently and securely.</a:t>
            </a:r>
          </a:p>
          <a:p>
            <a:pPr lvl="1"/>
            <a:r>
              <a:rPr lang="en-US" sz="2000" dirty="0"/>
              <a:t>• </a:t>
            </a:r>
            <a:r>
              <a:rPr lang="en-US" sz="2000" b="1" dirty="0"/>
              <a:t>IBM watsonx.ai</a:t>
            </a:r>
            <a:r>
              <a:rPr lang="en-US" sz="2000" dirty="0"/>
              <a:t> – For accessing and integrating IBM Granite models and supporting AI-powered application development.</a:t>
            </a:r>
          </a:p>
          <a:p>
            <a:pPr lvl="1"/>
            <a:r>
              <a:rPr lang="en-US" sz="2000" dirty="0"/>
              <a:t>• </a:t>
            </a:r>
            <a:r>
              <a:rPr lang="en-US" sz="2000" b="1" dirty="0"/>
              <a:t>RAG (Retrieval-Augmented Generation)</a:t>
            </a:r>
            <a:r>
              <a:rPr lang="en-US" sz="2000" dirty="0"/>
              <a:t> – To retrieve relevant travel information first and then generate accurate and context-aware travel recommendations.</a:t>
            </a:r>
          </a:p>
          <a:p>
            <a:pPr lvl="1"/>
            <a:r>
              <a:rPr lang="en-US" sz="2000" dirty="0"/>
              <a:t>• </a:t>
            </a:r>
            <a:r>
              <a:rPr lang="en-US" sz="2000" b="1" dirty="0"/>
              <a:t>Node.js &amp; Express.js</a:t>
            </a:r>
            <a:r>
              <a:rPr lang="en-US" sz="2000" dirty="0"/>
              <a:t> – For developing the backend, handling API requests, managing conversations, and connecting the application with IBM Granite.</a:t>
            </a:r>
          </a:p>
          <a:p>
            <a:pPr lvl="1"/>
            <a:r>
              <a:rPr lang="en-US" sz="2000" dirty="0"/>
              <a:t>• </a:t>
            </a:r>
            <a:r>
              <a:rPr lang="en-US" sz="2000" b="1" dirty="0"/>
              <a:t>HTML, CSS &amp; JavaScript</a:t>
            </a:r>
            <a:r>
              <a:rPr lang="en-US" sz="2000" dirty="0"/>
              <a:t> – For designing and developing the interactive and responsive user interface.</a:t>
            </a:r>
          </a:p>
          <a:p>
            <a:pPr lvl="1"/>
            <a:r>
              <a:rPr lang="en-US" sz="2000" dirty="0"/>
              <a:t>• </a:t>
            </a:r>
            <a:r>
              <a:rPr lang="en-US" sz="2000" b="1" dirty="0"/>
              <a:t>IBM IAM</a:t>
            </a:r>
            <a:r>
              <a:rPr lang="en-US" sz="2000" dirty="0"/>
              <a:t> – For secure authentication and access to IBM Cloud and Granite API services.</a:t>
            </a:r>
          </a:p>
          <a:p>
            <a:pPr lvl="1"/>
            <a:r>
              <a:rPr lang="en-US" sz="2000" dirty="0"/>
              <a:t>• </a:t>
            </a:r>
            <a:r>
              <a:rPr lang="en-US" sz="2000" b="1" dirty="0" err="1"/>
              <a:t>Git</a:t>
            </a:r>
            <a:r>
              <a:rPr lang="en-US" sz="2000" b="1" dirty="0"/>
              <a:t> &amp; GitHub</a:t>
            </a:r>
            <a:r>
              <a:rPr lang="en-US" sz="2000" dirty="0"/>
              <a:t> – For source-code management and version control.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99" y="1003055"/>
            <a:ext cx="10058400" cy="523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826" y="916488"/>
            <a:ext cx="10058400" cy="541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57" y="854778"/>
            <a:ext cx="10058400" cy="523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78578745-3233-E2C4-2AF4-55BA57C68D3F}"/>
              </a:ext>
            </a:extLst>
          </p:cNvPr>
          <p:cNvSpPr/>
          <p:nvPr/>
        </p:nvSpPr>
        <p:spPr>
          <a:xfrm>
            <a:off x="537590" y="226258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0" y="942109"/>
            <a:ext cx="10670737" cy="523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22462E8-EB3A-DA7D-44CB-4E757803A755}"/>
              </a:ext>
            </a:extLst>
          </p:cNvPr>
          <p:cNvSpPr txBox="1"/>
          <p:nvPr/>
        </p:nvSpPr>
        <p:spPr>
          <a:xfrm>
            <a:off x="475488" y="941223"/>
            <a:ext cx="740664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Role of Agentic AI in Travel Agent</a:t>
            </a:r>
          </a:p>
          <a:p>
            <a:r>
              <a:rPr lang="en-US" sz="1600" b="1" dirty="0"/>
              <a:t>Agentic AI</a:t>
            </a:r>
            <a:r>
              <a:rPr lang="en-US" sz="1600" dirty="0"/>
              <a:t> acts as the intelligent decision-making system of the </a:t>
            </a:r>
            <a:r>
              <a:rPr lang="en-US" sz="1600" dirty="0" err="1"/>
              <a:t>Yatra</a:t>
            </a:r>
            <a:r>
              <a:rPr lang="en-US" sz="1600" dirty="0"/>
              <a:t> Travel Agent. Instead of only answering questions, it can understand the user's travel goals, plan tasks, use available tools/data, and generate a personalized travel plan.</a:t>
            </a:r>
          </a:p>
          <a:p>
            <a:r>
              <a:rPr lang="en-US" sz="1600" b="1" dirty="0"/>
              <a:t>Understands User Requirements</a:t>
            </a:r>
            <a:r>
              <a:rPr lang="en-US" sz="1600" dirty="0"/>
              <a:t> – Identifies destination, duration, budget, interests, and preferences from natural-language queries. </a:t>
            </a:r>
          </a:p>
          <a:p>
            <a:r>
              <a:rPr lang="en-US" sz="1600" b="1" dirty="0"/>
              <a:t>Autonomous Trip Planning</a:t>
            </a:r>
            <a:r>
              <a:rPr lang="en-US" sz="1600" dirty="0"/>
              <a:t> – Creates complete day-wise itineraries by deciding suitable destinations, activities, and schedules. </a:t>
            </a:r>
          </a:p>
          <a:p>
            <a:r>
              <a:rPr lang="en-US" sz="1600" b="1" dirty="0"/>
              <a:t>Personalized Recommendations</a:t>
            </a:r>
            <a:r>
              <a:rPr lang="en-US" sz="1600" dirty="0"/>
              <a:t> – Adapts travel suggestions according to the user's budget, interests, and constraints. </a:t>
            </a:r>
          </a:p>
          <a:p>
            <a:r>
              <a:rPr lang="en-US" sz="1600" b="1" dirty="0"/>
              <a:t>Data &amp; Tool Usage</a:t>
            </a:r>
            <a:r>
              <a:rPr lang="en-US" sz="1600" dirty="0"/>
              <a:t> – Can use travel information such as maps, weather, transport, hotels, and local attractions when integrated with external tools/APIs. </a:t>
            </a:r>
          </a:p>
          <a:p>
            <a:r>
              <a:rPr lang="en-US" sz="1600" b="1" dirty="0"/>
              <a:t>Budget Optimization</a:t>
            </a:r>
            <a:r>
              <a:rPr lang="en-US" sz="1600" dirty="0"/>
              <a:t> – Helps distribute the available budget across transport, accommodation, food, and activities. </a:t>
            </a:r>
          </a:p>
          <a:p>
            <a:r>
              <a:rPr lang="en-US" sz="1600" b="1" dirty="0"/>
              <a:t>Conversational Memory</a:t>
            </a:r>
            <a:r>
              <a:rPr lang="en-US" sz="1600" dirty="0"/>
              <a:t> – Uses previous interactions to refine the itinerary when the user asks follow-up questions. </a:t>
            </a:r>
          </a:p>
          <a:p>
            <a:r>
              <a:rPr lang="en-US" sz="1600" b="1" dirty="0"/>
              <a:t>Dynamic Decision-Making</a:t>
            </a:r>
            <a:r>
              <a:rPr lang="en-US" sz="1600" dirty="0"/>
              <a:t> – Can modify the travel plan when requirements or travel conditions change. </a:t>
            </a:r>
          </a:p>
          <a:p>
            <a:r>
              <a:rPr lang="en-US" sz="1600" b="1" dirty="0"/>
              <a:t>End-to-End Assistance</a:t>
            </a:r>
            <a:r>
              <a:rPr lang="en-US" sz="1600" dirty="0"/>
              <a:t> – Brings destination discovery, itinerary planning, recommendations, and travel guidance together in one conversational agent.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44" y="656823"/>
            <a:ext cx="11333732" cy="580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45" y="944150"/>
            <a:ext cx="10058400" cy="506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83" y="1101159"/>
            <a:ext cx="10058400" cy="500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D65F54F-855A-0DB6-09A6-3212C5F7405B}"/>
              </a:ext>
            </a:extLst>
          </p:cNvPr>
          <p:cNvSpPr txBox="1"/>
          <p:nvPr/>
        </p:nvSpPr>
        <p:spPr>
          <a:xfrm>
            <a:off x="619924" y="1305331"/>
            <a:ext cx="1130198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Yatra</a:t>
            </a:r>
            <a:r>
              <a:rPr lang="en-US" sz="1800" dirty="0"/>
              <a:t> – India Travel Agent is an AI-powered travel planning system designed specifically for travel within India. Unlike traditional travel websites that mainly provide fixed information, </a:t>
            </a:r>
            <a:r>
              <a:rPr lang="en-US" sz="1800" dirty="0" err="1"/>
              <a:t>Yatra</a:t>
            </a:r>
            <a:r>
              <a:rPr lang="en-US" sz="1800" dirty="0"/>
              <a:t> understands the user's requirements through natural-language conversation and creates personalized travel plans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Novelty:</a:t>
            </a:r>
            <a:endParaRPr lang="en-US" sz="1800" dirty="0"/>
          </a:p>
          <a:p>
            <a:r>
              <a:rPr lang="en-US" sz="1800" dirty="0"/>
              <a:t>Uses IBM Granite to provide conversational AI-based travel assistance. </a:t>
            </a:r>
          </a:p>
          <a:p>
            <a:r>
              <a:rPr lang="en-US" sz="1800" dirty="0"/>
              <a:t>Generates personalized day-wise itineraries based on destination, duration, budget, and interests. </a:t>
            </a:r>
          </a:p>
          <a:p>
            <a:r>
              <a:rPr lang="en-US" sz="1800" dirty="0"/>
              <a:t>Combines itinerary planning, transportation guidance, food recommendations, and cultural experiences in one platform. </a:t>
            </a:r>
          </a:p>
          <a:p>
            <a:r>
              <a:rPr lang="en-US" sz="1800" dirty="0"/>
              <a:t>Adapts recommendations based on follow-up conversations with the user. </a:t>
            </a:r>
          </a:p>
          <a:p>
            <a:r>
              <a:rPr lang="en-US" sz="1800" dirty="0"/>
              <a:t>Provides budget-conscious travel suggestions for different types of travelers. </a:t>
            </a:r>
          </a:p>
          <a:p>
            <a:r>
              <a:rPr lang="en-US" sz="1800" dirty="0"/>
              <a:t>Focuses on India-specific destinations, cuisine, culture, and travel experiences.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b="1" dirty="0"/>
              <a:t>Uniqueness: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The main uniqueness of </a:t>
            </a:r>
            <a:r>
              <a:rPr lang="en-US" sz="1800" dirty="0" err="1"/>
              <a:t>Yatra</a:t>
            </a:r>
            <a:r>
              <a:rPr lang="en-US" sz="1800" dirty="0"/>
              <a:t> is its ability to act as a conversational travel agent rather than simply displaying pre-defined travel information. It converts a user's travel requirements into a structured and personalized travel plan using AI.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–https://github.com/manaswitha138/TRAVEL_AGENT?utm_source=chatgpt.com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dirty="0"/>
              <a:t>Integration with real-time </a:t>
            </a:r>
            <a:r>
              <a:rPr lang="en-US" sz="2000" b="1" dirty="0"/>
              <a:t>weather, maps, traffic, and transportation APIs</a:t>
            </a:r>
            <a:r>
              <a:rPr lang="en-US" sz="2000" dirty="0"/>
              <a:t>. </a:t>
            </a:r>
          </a:p>
          <a:p>
            <a:r>
              <a:rPr lang="en-US" sz="2000" dirty="0"/>
              <a:t>Real-time </a:t>
            </a:r>
            <a:r>
              <a:rPr lang="en-US" sz="2000" b="1" dirty="0"/>
              <a:t>hotel, flight, train, and ticket availability</a:t>
            </a:r>
            <a:r>
              <a:rPr lang="en-US" sz="2000" dirty="0"/>
              <a:t> with booking support. </a:t>
            </a:r>
          </a:p>
          <a:p>
            <a:r>
              <a:rPr lang="en-US" sz="2000" dirty="0"/>
              <a:t>Voice-based interaction for easier and more natural travel planning. </a:t>
            </a:r>
          </a:p>
          <a:p>
            <a:r>
              <a:rPr lang="en-US" sz="2000" dirty="0"/>
              <a:t>Multilingual support for </a:t>
            </a:r>
            <a:r>
              <a:rPr lang="en-US" sz="2000" b="1" dirty="0"/>
              <a:t>Indian regional languages</a:t>
            </a:r>
            <a:r>
              <a:rPr lang="en-US" sz="2000" dirty="0"/>
              <a:t>. </a:t>
            </a:r>
          </a:p>
          <a:p>
            <a:r>
              <a:rPr lang="en-US" sz="2000" dirty="0"/>
              <a:t>Advanced budget optimization and </a:t>
            </a:r>
            <a:r>
              <a:rPr lang="en-US" sz="2000" b="1" dirty="0"/>
              <a:t>personalized trip recommendations</a:t>
            </a:r>
            <a:r>
              <a:rPr lang="en-US" sz="2000" dirty="0"/>
              <a:t>. </a:t>
            </a:r>
          </a:p>
          <a:p>
            <a:r>
              <a:rPr lang="en-US" sz="2000" dirty="0"/>
              <a:t>Integration of live location and route optimization during travel. </a:t>
            </a:r>
          </a:p>
          <a:p>
            <a:r>
              <a:rPr lang="en-US" sz="2000" dirty="0"/>
              <a:t>Personalized recommendations based on previous trips and user preferences. </a:t>
            </a:r>
          </a:p>
          <a:p>
            <a:r>
              <a:rPr lang="en-US" sz="2000" dirty="0"/>
              <a:t>Integration with local guides and tourism services. </a:t>
            </a:r>
          </a:p>
          <a:p>
            <a:r>
              <a:rPr lang="en-US" sz="2000" dirty="0"/>
              <a:t>Mobile application development for Android and iOS. </a:t>
            </a:r>
          </a:p>
          <a:p>
            <a:r>
              <a:rPr lang="en-US" sz="2000" dirty="0"/>
              <a:t>Continuous improvement using updated travel data and user feedback.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718" y="1367169"/>
            <a:ext cx="9232685" cy="471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312478"/>
            <a:ext cx="9143999" cy="514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1183</Words>
  <Application>Microsoft Office PowerPoint</Application>
  <PresentationFormat>Widescreen</PresentationFormat>
  <Paragraphs>122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Microsoft account</cp:lastModifiedBy>
  <cp:revision>10</cp:revision>
  <dcterms:created xsi:type="dcterms:W3CDTF">2025-07-08T05:06:56Z</dcterms:created>
  <dcterms:modified xsi:type="dcterms:W3CDTF">2026-09-08T15:23:29Z</dcterms:modified>
</cp:coreProperties>
</file>